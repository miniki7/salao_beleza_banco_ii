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3" r:id="rId4"/>
  </p:sldMasterIdLst>
  <p:notesMasterIdLst>
    <p:notesMasterId r:id="rId11"/>
  </p:notesMasterIdLst>
  <p:sldIdLst>
    <p:sldId id="324" r:id="rId5"/>
    <p:sldId id="328" r:id="rId6"/>
    <p:sldId id="321" r:id="rId7"/>
    <p:sldId id="325" r:id="rId8"/>
    <p:sldId id="327" r:id="rId9"/>
    <p:sldId id="32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D815D-B0D6-9198-F554-B6DDEAE42ED6}" v="18" dt="2026-06-16T23:53:25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D'agostin Zanelato" userId="S::gustavo.933120@alunosatc.edu.br::51855753-4cd5-4836-9b7e-42af6c439a66" providerId="AD" clId="Web-{2BCD815D-B0D6-9198-F554-B6DDEAE42ED6}"/>
    <pc:docChg chg="modSld">
      <pc:chgData name="Gustavo D'agostin Zanelato" userId="S::gustavo.933120@alunosatc.edu.br::51855753-4cd5-4836-9b7e-42af6c439a66" providerId="AD" clId="Web-{2BCD815D-B0D6-9198-F554-B6DDEAE42ED6}" dt="2026-06-16T23:53:25.281" v="8" actId="20577"/>
      <pc:docMkLst>
        <pc:docMk/>
      </pc:docMkLst>
      <pc:sldChg chg="modSp">
        <pc:chgData name="Gustavo D'agostin Zanelato" userId="S::gustavo.933120@alunosatc.edu.br::51855753-4cd5-4836-9b7e-42af6c439a66" providerId="AD" clId="Web-{2BCD815D-B0D6-9198-F554-B6DDEAE42ED6}" dt="2026-06-16T22:14:42.736" v="1" actId="20577"/>
        <pc:sldMkLst>
          <pc:docMk/>
          <pc:sldMk cId="1335790754" sldId="321"/>
        </pc:sldMkLst>
        <pc:spChg chg="mod">
          <ac:chgData name="Gustavo D'agostin Zanelato" userId="S::gustavo.933120@alunosatc.edu.br::51855753-4cd5-4836-9b7e-42af6c439a66" providerId="AD" clId="Web-{2BCD815D-B0D6-9198-F554-B6DDEAE42ED6}" dt="2026-06-16T22:14:42.736" v="1" actId="20577"/>
          <ac:spMkLst>
            <pc:docMk/>
            <pc:sldMk cId="1335790754" sldId="321"/>
            <ac:spMk id="3" creationId="{77EC489C-A198-9016-6E97-183BCFBA9ACB}"/>
          </ac:spMkLst>
        </pc:spChg>
      </pc:sldChg>
      <pc:sldChg chg="modSp">
        <pc:chgData name="Gustavo D'agostin Zanelato" userId="S::gustavo.933120@alunosatc.edu.br::51855753-4cd5-4836-9b7e-42af6c439a66" providerId="AD" clId="Web-{2BCD815D-B0D6-9198-F554-B6DDEAE42ED6}" dt="2026-06-16T23:53:25.281" v="8" actId="20577"/>
        <pc:sldMkLst>
          <pc:docMk/>
          <pc:sldMk cId="2824624553" sldId="325"/>
        </pc:sldMkLst>
        <pc:spChg chg="mod">
          <ac:chgData name="Gustavo D'agostin Zanelato" userId="S::gustavo.933120@alunosatc.edu.br::51855753-4cd5-4836-9b7e-42af6c439a66" providerId="AD" clId="Web-{2BCD815D-B0D6-9198-F554-B6DDEAE42ED6}" dt="2026-06-16T23:53:25.281" v="8" actId="20577"/>
          <ac:spMkLst>
            <pc:docMk/>
            <pc:sldMk cId="2824624553" sldId="325"/>
            <ac:spMk id="3" creationId="{77EC489C-A198-9016-6E97-183BCFBA9ACB}"/>
          </ac:spMkLst>
        </pc:spChg>
      </pc:sldChg>
      <pc:sldChg chg="modSp">
        <pc:chgData name="Gustavo D'agostin Zanelato" userId="S::gustavo.933120@alunosatc.edu.br::51855753-4cd5-4836-9b7e-42af6c439a66" providerId="AD" clId="Web-{2BCD815D-B0D6-9198-F554-B6DDEAE42ED6}" dt="2026-06-16T22:15:32.208" v="4" actId="20577"/>
        <pc:sldMkLst>
          <pc:docMk/>
          <pc:sldMk cId="2652359478" sldId="326"/>
        </pc:sldMkLst>
        <pc:spChg chg="mod">
          <ac:chgData name="Gustavo D'agostin Zanelato" userId="S::gustavo.933120@alunosatc.edu.br::51855753-4cd5-4836-9b7e-42af6c439a66" providerId="AD" clId="Web-{2BCD815D-B0D6-9198-F554-B6DDEAE42ED6}" dt="2026-06-16T22:15:32.208" v="4" actId="20577"/>
          <ac:spMkLst>
            <pc:docMk/>
            <pc:sldMk cId="2652359478" sldId="326"/>
            <ac:spMk id="5" creationId="{037131BD-F60D-A36A-3713-D6F315A6E8F3}"/>
          </ac:spMkLst>
        </pc:spChg>
      </pc:sldChg>
      <pc:sldChg chg="modSp">
        <pc:chgData name="Gustavo D'agostin Zanelato" userId="S::gustavo.933120@alunosatc.edu.br::51855753-4cd5-4836-9b7e-42af6c439a66" providerId="AD" clId="Web-{2BCD815D-B0D6-9198-F554-B6DDEAE42ED6}" dt="2026-06-16T22:15:24.255" v="2" actId="1076"/>
        <pc:sldMkLst>
          <pc:docMk/>
          <pc:sldMk cId="3132175524" sldId="327"/>
        </pc:sldMkLst>
        <pc:spChg chg="mod">
          <ac:chgData name="Gustavo D'agostin Zanelato" userId="S::gustavo.933120@alunosatc.edu.br::51855753-4cd5-4836-9b7e-42af6c439a66" providerId="AD" clId="Web-{2BCD815D-B0D6-9198-F554-B6DDEAE42ED6}" dt="2026-06-16T22:15:24.255" v="2" actId="1076"/>
          <ac:spMkLst>
            <pc:docMk/>
            <pc:sldMk cId="3132175524" sldId="327"/>
            <ac:spMk id="4" creationId="{7EB2DA88-610A-DD49-981B-A0FE50EF8A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6103E-6FF8-498F-9DAA-1A2692C670A1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78F25-2E85-467A-9866-7C0598F1988E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9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1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09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35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9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1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42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94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2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7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12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0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7EC489C-A198-9016-6E97-183BCFBA9ACB}"/>
              </a:ext>
            </a:extLst>
          </p:cNvPr>
          <p:cNvSpPr txBox="1"/>
          <p:nvPr/>
        </p:nvSpPr>
        <p:spPr>
          <a:xfrm>
            <a:off x="651164" y="2134673"/>
            <a:ext cx="108896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/>
              <a:t>a) Desenvolver um banco de dados utilizando </a:t>
            </a:r>
            <a:r>
              <a:rPr lang="pt-BR" sz="2200" b="1" dirty="0"/>
              <a:t>PostgreSQL</a:t>
            </a:r>
            <a:r>
              <a:rPr lang="pt-BR" sz="2200" dirty="0"/>
              <a:t>, aplicando os principais conceitos estudados na disciplina de Banco de Dados II, incluindo: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Criação de banco de dados, tabelas e relacionamentos;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Chaves e integridade referencial;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 err="1"/>
              <a:t>Views</a:t>
            </a:r>
            <a:r>
              <a:rPr lang="pt-BR" sz="2200" dirty="0"/>
              <a:t>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Procedures;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 err="1"/>
              <a:t>Functions</a:t>
            </a:r>
            <a:r>
              <a:rPr lang="pt-BR" sz="2200" dirty="0"/>
              <a:t>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Triggers; 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r>
              <a:rPr lang="pt-BR" sz="2200" dirty="0"/>
              <a:t>b) Desenvolvimento de um CRUD para manipulação do banco de dados criado no PostgreSQL.</a:t>
            </a:r>
          </a:p>
          <a:p>
            <a:endParaRPr lang="pt-BR" sz="2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03057D-51E2-8F71-AF5E-3FFD4B989551}"/>
              </a:ext>
            </a:extLst>
          </p:cNvPr>
          <p:cNvSpPr txBox="1"/>
          <p:nvPr/>
        </p:nvSpPr>
        <p:spPr>
          <a:xfrm>
            <a:off x="0" y="146216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TRABALHO FINAL COM BASE EM </a:t>
            </a:r>
          </a:p>
          <a:p>
            <a:pPr algn="ctr"/>
            <a:r>
              <a:rPr lang="pt-BR" sz="4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METODOLOGIAS ATIVAS DE APRENDIZAGEM</a:t>
            </a:r>
            <a:endParaRPr lang="pt-BR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16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7EC489C-A198-9016-6E97-183BCFBA9ACB}"/>
              </a:ext>
            </a:extLst>
          </p:cNvPr>
          <p:cNvSpPr txBox="1"/>
          <p:nvPr/>
        </p:nvSpPr>
        <p:spPr>
          <a:xfrm>
            <a:off x="775855" y="1946706"/>
            <a:ext cx="108896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Trabalho em </a:t>
            </a:r>
            <a:r>
              <a:rPr lang="pt-BR" sz="2200" b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equipe (04 pessoas) </a:t>
            </a:r>
            <a:r>
              <a:rPr lang="pt-BR" sz="2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 Grupos a serem montados em sala, um aluno responsável pela publicação material, mas avaliação será </a:t>
            </a:r>
            <a:r>
              <a:rPr lang="pt-BR" sz="2200" b="1" dirty="0">
                <a:solidFill>
                  <a:srgbClr val="000000"/>
                </a:solidFill>
                <a:effectLst/>
                <a:latin typeface="Calibri-Bold"/>
              </a:rPr>
              <a:t>individual</a:t>
            </a:r>
            <a:r>
              <a:rPr lang="pt-BR" sz="2200" b="1" dirty="0">
                <a:solidFill>
                  <a:srgbClr val="000000"/>
                </a:solidFill>
                <a:latin typeface="Calibri-Bold"/>
              </a:rPr>
              <a:t> por aluno.</a:t>
            </a:r>
            <a:r>
              <a:rPr lang="pt-BR" sz="2200" b="1" dirty="0">
                <a:solidFill>
                  <a:srgbClr val="000000"/>
                </a:solidFill>
                <a:effectLst/>
                <a:latin typeface="Calibri-Bold"/>
              </a:rPr>
              <a:t> </a:t>
            </a:r>
          </a:p>
          <a:p>
            <a:endParaRPr lang="pt-BR" sz="2200" dirty="0"/>
          </a:p>
          <a:p>
            <a:r>
              <a:rPr lang="pt-BR" sz="2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pt-BR" sz="2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avaliação será baseada na </a:t>
            </a:r>
            <a:r>
              <a:rPr lang="pt-BR" sz="2200" b="1" dirty="0">
                <a:solidFill>
                  <a:srgbClr val="000000"/>
                </a:solidFill>
                <a:effectLst/>
                <a:latin typeface="Calibri-Bold"/>
              </a:rPr>
              <a:t>participação de cada aluno em sala de aula </a:t>
            </a:r>
            <a:r>
              <a:rPr lang="pt-BR" sz="2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 </a:t>
            </a:r>
            <a:r>
              <a:rPr lang="pt-BR" sz="2200" b="1" dirty="0">
                <a:solidFill>
                  <a:srgbClr val="000000"/>
                </a:solidFill>
                <a:effectLst/>
                <a:latin typeface="Calibri-Bold"/>
              </a:rPr>
              <a:t>nas interações no projeto do PORTAL </a:t>
            </a:r>
            <a:r>
              <a:rPr lang="pt-BR" sz="2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durante a construção do trabalho. </a:t>
            </a:r>
          </a:p>
          <a:p>
            <a:endParaRPr lang="pt-BR" sz="2200" dirty="0"/>
          </a:p>
          <a:p>
            <a:r>
              <a:rPr lang="pt-BR" sz="2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pt-BR" sz="2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Toda a jornada de construção do trabalho / demonstração funcional deverá ser </a:t>
            </a:r>
            <a:r>
              <a:rPr lang="pt-BR" sz="2200" b="1" dirty="0">
                <a:solidFill>
                  <a:srgbClr val="000000"/>
                </a:solidFill>
                <a:effectLst/>
                <a:latin typeface="Calibri-Bold"/>
              </a:rPr>
              <a:t>apresentado ultimo dia através do Powerpoint </a:t>
            </a:r>
            <a:r>
              <a:rPr lang="pt-BR" sz="2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(ou similares)</a:t>
            </a:r>
          </a:p>
          <a:p>
            <a:endParaRPr lang="pt-BR" sz="2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03057D-51E2-8F71-AF5E-3FFD4B989551}"/>
              </a:ext>
            </a:extLst>
          </p:cNvPr>
          <p:cNvSpPr txBox="1"/>
          <p:nvPr/>
        </p:nvSpPr>
        <p:spPr>
          <a:xfrm>
            <a:off x="0" y="146216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TRABALHO FINAL COM BASE EM </a:t>
            </a:r>
          </a:p>
          <a:p>
            <a:pPr algn="ctr"/>
            <a:r>
              <a:rPr lang="pt-BR" sz="4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METODOLOGIAS ATIVAS DE APRENDIZAGEM</a:t>
            </a:r>
            <a:endParaRPr lang="pt-BR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3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7EC489C-A198-9016-6E97-183BCFBA9ACB}"/>
              </a:ext>
            </a:extLst>
          </p:cNvPr>
          <p:cNvSpPr txBox="1"/>
          <p:nvPr/>
        </p:nvSpPr>
        <p:spPr>
          <a:xfrm>
            <a:off x="830141" y="1835870"/>
            <a:ext cx="10835386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800" b="1" dirty="0">
                <a:solidFill>
                  <a:srgbClr val="000000"/>
                </a:solidFill>
                <a:effectLst/>
                <a:latin typeface="Calibri-Bold"/>
              </a:rPr>
              <a:t>DATAS/ETAPAS do PROJETO: </a:t>
            </a:r>
          </a:p>
          <a:p>
            <a:endParaRPr lang="pt-BR" dirty="0"/>
          </a:p>
          <a:p>
            <a:r>
              <a:rPr lang="pt-BR" b="1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09/06/2026</a:t>
            </a:r>
            <a:r>
              <a:rPr lang="pt-BR" b="1" dirty="0">
                <a:solidFill>
                  <a:srgbClr val="FF0000"/>
                </a:solidFill>
                <a:latin typeface="Tahoma" panose="020B0604030504040204" pitchFamily="34" charset="0"/>
              </a:rPr>
              <a:t> – Presencial (peso 3,0)</a:t>
            </a:r>
            <a:endParaRPr lang="pt-BR" b="1" i="0" dirty="0">
              <a:solidFill>
                <a:srgbClr val="FF0000"/>
              </a:solidFill>
              <a:effectLst/>
              <a:latin typeface="Tahoma" panose="020B0604030504040204" pitchFamily="34" charset="0"/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pPr algn="just"/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/>
                <a:cs typeface="Arial"/>
              </a:rPr>
              <a:t>•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Criar o diagrama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modelo lógico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(otimizar quantidade de colunas e os tipos de dados). Publicar  no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Portal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(mínimo 8 itens principais)  - Considere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normalizar o seu banco de dados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em tempo de construção de diagrama do modelo  físico. </a:t>
            </a:r>
            <a:endParaRPr lang="pt-BR" dirty="0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endParaRPr lang="pt-BR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/>
                <a:cs typeface="Arial"/>
              </a:rPr>
              <a:t>•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Gerar script de criação do banco de dados e criar o banco de dados. Publicar no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Portal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(Manter/mostrar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histórico das alterações) e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Gerar script para popular as tabelas com dados de exemplos (mínimo 10 itens). Publicar no </a:t>
            </a:r>
            <a:r>
              <a:rPr lang="pt-BR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GoogleDrive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(Manter/mostrar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histórico das alterações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)</a:t>
            </a:r>
          </a:p>
          <a:p>
            <a:endParaRPr lang="pt-BR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354746-C256-57FD-6DAC-79CF6731D7C5}"/>
              </a:ext>
            </a:extLst>
          </p:cNvPr>
          <p:cNvSpPr txBox="1"/>
          <p:nvPr/>
        </p:nvSpPr>
        <p:spPr>
          <a:xfrm>
            <a:off x="0" y="14621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TRABALHO FINAL COM BASE EM </a:t>
            </a:r>
          </a:p>
          <a:p>
            <a:pPr algn="ctr"/>
            <a:r>
              <a:rPr lang="pt-BR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METODOLOGIAS ATIVAS DE APRENDIZAGEM</a:t>
            </a:r>
            <a:endParaRPr lang="pt-BR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79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7EC489C-A198-9016-6E97-183BCFBA9ACB}"/>
              </a:ext>
            </a:extLst>
          </p:cNvPr>
          <p:cNvSpPr txBox="1"/>
          <p:nvPr/>
        </p:nvSpPr>
        <p:spPr>
          <a:xfrm>
            <a:off x="678307" y="1738888"/>
            <a:ext cx="10835386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16/06/2026 </a:t>
            </a:r>
            <a:r>
              <a:rPr lang="pt-BR" b="1" dirty="0">
                <a:solidFill>
                  <a:srgbClr val="FF0000"/>
                </a:solidFill>
                <a:latin typeface="Tahoma" panose="020B0604030504040204" pitchFamily="34" charset="0"/>
              </a:rPr>
              <a:t>– Remoto (peso 3,0)</a:t>
            </a:r>
            <a:endParaRPr lang="pt-BR" b="1" i="0" dirty="0">
              <a:solidFill>
                <a:srgbClr val="FF0000"/>
              </a:solidFill>
              <a:effectLst/>
              <a:latin typeface="Tahoma" panose="020B0604030504040204" pitchFamily="34" charset="0"/>
            </a:endParaRPr>
          </a:p>
          <a:p>
            <a:endParaRPr lang="pt-BR" b="1" i="0" dirty="0">
              <a:solidFill>
                <a:srgbClr val="FF0000"/>
              </a:solidFill>
              <a:effectLst/>
              <a:latin typeface="Tahoma" panose="020B0604030504040204" pitchFamily="34" charset="0"/>
            </a:endParaRPr>
          </a:p>
          <a:p>
            <a:pPr algn="just"/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Utilizar os seguintes objetos em seu projeto: </a:t>
            </a:r>
            <a:r>
              <a:rPr lang="pt-BR" b="1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3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function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/Procedure, 01 trigger, 03 </a:t>
            </a:r>
            <a:r>
              <a:rPr lang="pt-BR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view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 e  índices para as tabelas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. Justificar a escolha de cada tipo de objeto para o desenvolvimento dos códigos em seu sistema. Publicar no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Portal 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(Manter/mostrar </a:t>
            </a:r>
            <a:r>
              <a:rPr lang="pt-BR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-Bold"/>
              </a:rPr>
              <a:t>histórico das alterações</a:t>
            </a:r>
            <a:r>
              <a:rPr lang="pt-BR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).</a:t>
            </a:r>
            <a:r>
              <a:rPr lang="pt-BR" sz="180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</a:p>
          <a:p>
            <a:pPr algn="just"/>
            <a:endParaRPr lang="pt-BR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pt-BR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Desenvolver um CRUD (tela de adição, edição e remoção a escolha do professor) para interação com o seu banco de dados em alguma linguagem de programação a sua escolha. Publicar no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Calibri-Bold"/>
              </a:rPr>
              <a:t>GoogleDrive</a:t>
            </a:r>
            <a:r>
              <a:rPr lang="pt-BR" sz="1800" b="1" dirty="0">
                <a:solidFill>
                  <a:srgbClr val="000000"/>
                </a:solidFill>
                <a:effectLst/>
                <a:latin typeface="Calibri-Bold"/>
              </a:rPr>
              <a:t> </a:t>
            </a:r>
            <a:r>
              <a:rPr lang="pt-BR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(Manter/mostrar </a:t>
            </a:r>
            <a:r>
              <a:rPr lang="pt-BR" sz="1800" b="1" dirty="0">
                <a:solidFill>
                  <a:srgbClr val="000000"/>
                </a:solidFill>
                <a:effectLst/>
                <a:latin typeface="Calibri-Bold"/>
              </a:rPr>
              <a:t>histórico das alterações</a:t>
            </a:r>
            <a:r>
              <a:rPr lang="pt-BR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). </a:t>
            </a:r>
          </a:p>
          <a:p>
            <a:pPr algn="just"/>
            <a:endParaRPr lang="pt-BR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pt-BR" b="1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23/06/2025 </a:t>
            </a:r>
            <a:r>
              <a:rPr lang="pt-BR" b="1" dirty="0">
                <a:solidFill>
                  <a:srgbClr val="FF0000"/>
                </a:solidFill>
                <a:latin typeface="Tahoma" panose="020B0604030504040204" pitchFamily="34" charset="0"/>
              </a:rPr>
              <a:t>– Presencial (peso 4,0)</a:t>
            </a:r>
          </a:p>
          <a:p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pt-BR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Entrega completa do projeto e apresentação</a:t>
            </a:r>
            <a:r>
              <a:rPr lang="pt-BR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Publicar no </a:t>
            </a:r>
            <a:r>
              <a:rPr lang="pt-BR" sz="1800" b="1" dirty="0">
                <a:solidFill>
                  <a:srgbClr val="000000"/>
                </a:solidFill>
                <a:effectLst/>
                <a:latin typeface="Calibri-Bold"/>
              </a:rPr>
              <a:t>Portal </a:t>
            </a:r>
            <a:r>
              <a:rPr lang="pt-BR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(completo).</a:t>
            </a:r>
            <a:endParaRPr lang="pt-BR" dirty="0"/>
          </a:p>
          <a:p>
            <a:pPr algn="just"/>
            <a:endParaRPr lang="pt-BR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just"/>
            <a:r>
              <a:rPr lang="pt-BR" b="1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30/06/2026 - Presencial </a:t>
            </a:r>
            <a:r>
              <a:rPr lang="pt-BR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- </a:t>
            </a:r>
            <a:r>
              <a:rPr lang="pt-BR" b="1" i="0" dirty="0">
                <a:solidFill>
                  <a:srgbClr val="0070C0"/>
                </a:solidFill>
                <a:effectLst/>
                <a:latin typeface="Tahoma" panose="020B0604030504040204" pitchFamily="34" charset="0"/>
              </a:rPr>
              <a:t>Avaliação N-1</a:t>
            </a:r>
            <a:endParaRPr lang="pt-BR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just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354746-C256-57FD-6DAC-79CF6731D7C5}"/>
              </a:ext>
            </a:extLst>
          </p:cNvPr>
          <p:cNvSpPr txBox="1"/>
          <p:nvPr/>
        </p:nvSpPr>
        <p:spPr>
          <a:xfrm>
            <a:off x="0" y="14621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TRABALHO FINAL COM BASE EM </a:t>
            </a:r>
          </a:p>
          <a:p>
            <a:pPr algn="ctr"/>
            <a:r>
              <a:rPr lang="pt-BR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METODOLOGIAS ATIVAS DE APRENDIZAGEM</a:t>
            </a:r>
            <a:endParaRPr lang="pt-BR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62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EB2DA88-610A-DD49-981B-A0FE50EF8A1C}"/>
              </a:ext>
            </a:extLst>
          </p:cNvPr>
          <p:cNvSpPr txBox="1"/>
          <p:nvPr/>
        </p:nvSpPr>
        <p:spPr>
          <a:xfrm>
            <a:off x="876745" y="854655"/>
            <a:ext cx="1044632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Melhorias para o Projeto: </a:t>
            </a:r>
            <a:r>
              <a:rPr lang="pt-BR" sz="2000" dirty="0"/>
              <a:t>As seguintes implementações serão consideradas como melhorias no desenvolvimento do projeto e poderão contribuir positivamente na avaliação final do trabalho.</a:t>
            </a:r>
          </a:p>
          <a:p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Informações sequenciais (códigos) e reais (nome, produto, </a:t>
            </a:r>
            <a:r>
              <a:rPr lang="pt-BR" sz="2400" dirty="0" err="1"/>
              <a:t>etc</a:t>
            </a:r>
            <a:r>
              <a:rPr lang="pt-B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Não permitir gravar informações vazias (nome, marca, </a:t>
            </a:r>
            <a:r>
              <a:rPr lang="pt-BR" sz="2400" dirty="0" err="1"/>
              <a:t>etc</a:t>
            </a:r>
            <a:r>
              <a:rPr lang="pt-B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Impedir informações inválidas (que não existem)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Não permitir campos salario, </a:t>
            </a:r>
            <a:r>
              <a:rPr lang="pt-BR" sz="2400" dirty="0" err="1"/>
              <a:t>qtde</a:t>
            </a:r>
            <a:r>
              <a:rPr lang="pt-BR" sz="2400" dirty="0"/>
              <a:t>, preço, </a:t>
            </a:r>
            <a:r>
              <a:rPr lang="pt-BR" sz="2400" dirty="0" err="1"/>
              <a:t>etc</a:t>
            </a:r>
            <a:r>
              <a:rPr lang="pt-BR" sz="2400" dirty="0"/>
              <a:t>  igual a zero ou negativo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Não gerar vendas, pedidos, </a:t>
            </a:r>
            <a:r>
              <a:rPr lang="pt-BR" sz="2400" dirty="0" err="1"/>
              <a:t>etc</a:t>
            </a:r>
            <a:r>
              <a:rPr lang="pt-BR" sz="2400" dirty="0"/>
              <a:t> (cliente e produto) que não existam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Exibir dados organizados (listas e pesquisas)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Visual das telas (estruturadas com títulos, separadores, alinhamentos)</a:t>
            </a:r>
          </a:p>
          <a:p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lvl="1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3217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0BCC4-0461-A8DB-0AC1-92B0758F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36" y="212725"/>
            <a:ext cx="10515600" cy="646257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Temas (sorteio)</a:t>
            </a:r>
            <a:r>
              <a:rPr lang="pt-BR" dirty="0"/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7131BD-F60D-A36A-3713-D6F315A6E8F3}"/>
              </a:ext>
            </a:extLst>
          </p:cNvPr>
          <p:cNvSpPr txBox="1"/>
          <p:nvPr/>
        </p:nvSpPr>
        <p:spPr>
          <a:xfrm>
            <a:off x="637308" y="1025669"/>
            <a:ext cx="9587345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Gestão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Locadora de Veículos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Sistema de Controle de Assistência Técnica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Gestão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Gestão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Restaurante e Pedidos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Gestão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Gestão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 Shop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pt-BR" altLang="pt-BR" sz="2400" dirty="0">
                <a:latin typeface="Arial" panose="020B0604020202020204" pitchFamily="34" charset="0"/>
              </a:rPr>
              <a:t>Sistema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Gestão </a:t>
            </a:r>
            <a:r>
              <a:rPr lang="pt-BR" altLang="pt-BR" sz="2400" dirty="0">
                <a:latin typeface="Arial" panose="020B0604020202020204" pitchFamily="34" charset="0"/>
              </a:rPr>
              <a:t>Barbearia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Sistema de Controle de Vagas Estacionamento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 de Gestão de Agência de Turismo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sz="2400" dirty="0">
                <a:highlight>
                  <a:srgbClr val="FFFF00"/>
                </a:highlight>
                <a:latin typeface="Arial"/>
                <a:cs typeface="Arial"/>
              </a:rPr>
              <a:t>Sistema de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/>
                <a:cs typeface="Arial"/>
              </a:rPr>
              <a:t>Gestão de </a:t>
            </a:r>
            <a:r>
              <a:rPr lang="pt-BR" altLang="pt-BR" sz="2400" dirty="0">
                <a:highlight>
                  <a:srgbClr val="FFFF00"/>
                </a:highlight>
                <a:latin typeface="Arial"/>
                <a:cs typeface="Arial"/>
              </a:rPr>
              <a:t>Clínica Estética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3594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C9B06E8D258D44AB20F7299C31BAA6" ma:contentTypeVersion="2" ma:contentTypeDescription="Create a new document." ma:contentTypeScope="" ma:versionID="ab8bc255703c3fcecab246f7ad2d216a">
  <xsd:schema xmlns:xsd="http://www.w3.org/2001/XMLSchema" xmlns:xs="http://www.w3.org/2001/XMLSchema" xmlns:p="http://schemas.microsoft.com/office/2006/metadata/properties" xmlns:ns2="26710101-bd84-4e96-9192-5534adc630e1" targetNamespace="http://schemas.microsoft.com/office/2006/metadata/properties" ma:root="true" ma:fieldsID="f0360bed8c09567b9e2f47b8b626ac6a" ns2:_="">
    <xsd:import namespace="26710101-bd84-4e96-9192-5534adc63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10101-bd84-4e96-9192-5534adc63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78FE46-4E35-426F-888D-AE4F2755761C}">
  <ds:schemaRefs/>
</ds:datastoreItem>
</file>

<file path=customXml/itemProps2.xml><?xml version="1.0" encoding="utf-8"?>
<ds:datastoreItem xmlns:ds="http://schemas.openxmlformats.org/officeDocument/2006/customXml" ds:itemID="{B796CA96-26C7-454B-83D9-6E686FB40232}">
  <ds:schemaRefs/>
</ds:datastoreItem>
</file>

<file path=customXml/itemProps3.xml><?xml version="1.0" encoding="utf-8"?>
<ds:datastoreItem xmlns:ds="http://schemas.openxmlformats.org/officeDocument/2006/customXml" ds:itemID="{440FDFAC-AEDF-4F07-9F2F-90DCF17118B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311</TotalTime>
  <Words>590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Temas (sorteio):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Projetos</dc:title>
  <dc:creator>Luciano B Fernandes</dc:creator>
  <cp:lastModifiedBy>Cristiane Pavei Fernandes</cp:lastModifiedBy>
  <cp:revision>118</cp:revision>
  <dcterms:created xsi:type="dcterms:W3CDTF">2019-07-31T23:39:00Z</dcterms:created>
  <dcterms:modified xsi:type="dcterms:W3CDTF">2026-06-16T23:53:25Z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0x010100BDC9B06E8D258D44AB20F7299C31BAA6</vt:lpwstr>
  </property>
  <property fmtid="{D5CDD505-2E9C-101B-9397-08002B2CF9AE}" pid="3" name="ICV">
    <vt:lpwstr>0DD2610D04714D849EDE41E82F20EA24_12</vt:lpwstr>
  </property>
  <property fmtid="{D5CDD505-2E9C-101B-9397-08002B2CF9AE}" pid="4" name="KSOProductBuildVer">
    <vt:lpwstr>1046-12.2.0.17119</vt:lpwstr>
  </property>
</Properties>
</file>